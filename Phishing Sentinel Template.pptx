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al Bold Italics" charset="1" panose="020B0704020202090204"/>
      <p:regular r:id="rId18"/>
    </p:embeddedFont>
    <p:embeddedFont>
      <p:font typeface="Arial Bold" charset="1" panose="020B0704020202020204"/>
      <p:regular r:id="rId19"/>
    </p:embeddedFont>
    <p:embeddedFont>
      <p:font typeface="Calibri (MS)" charset="1" panose="020F0502020204030204"/>
      <p:regular r:id="rId21"/>
    </p:embeddedFont>
    <p:embeddedFont>
      <p:font typeface="Calibri (MS) Bold" charset="1" panose="020F0702030404030204"/>
      <p:regular r:id="rId23"/>
    </p:embeddedFont>
    <p:embeddedFont>
      <p:font typeface="Arial" charset="1" panose="020B0604020202020204"/>
      <p:regular r:id="rId26"/>
    </p:embeddedFont>
    <p:embeddedFont>
      <p:font typeface="Calibri (MS) Bold Italics" charset="1" panose="020F07020304040A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fonts/font21.fntdata" Type="http://schemas.openxmlformats.org/officeDocument/2006/relationships/font"/><Relationship Id="rId22" Target="notesSlides/notesSlide3.xml" Type="http://schemas.openxmlformats.org/officeDocument/2006/relationships/notesSlide"/><Relationship Id="rId23" Target="fonts/font23.fntdata" Type="http://schemas.openxmlformats.org/officeDocument/2006/relationships/font"/><Relationship Id="rId24" Target="notesSlides/notesSlide4.xml" Type="http://schemas.openxmlformats.org/officeDocument/2006/relationships/notesSlide"/><Relationship Id="rId25" Target="notesSlides/notesSlide5.xml" Type="http://schemas.openxmlformats.org/officeDocument/2006/relationships/notesSlide"/><Relationship Id="rId26" Target="fonts/font26.fntdata" Type="http://schemas.openxmlformats.org/officeDocument/2006/relationships/font"/><Relationship Id="rId27" Target="notesSlides/notesSlide6.xml" Type="http://schemas.openxmlformats.org/officeDocument/2006/relationships/notesSlide"/><Relationship Id="rId28" Target="fonts/font28.fntdata" Type="http://schemas.openxmlformats.org/officeDocument/2006/relationships/font"/><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4723781" y="1317460"/>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1028700" y="1544288"/>
            <a:ext cx="4406569" cy="1019174"/>
          </a:xfrm>
          <a:prstGeom prst="rect">
            <a:avLst/>
          </a:prstGeom>
        </p:spPr>
        <p:txBody>
          <a:bodyPr anchor="t" rtlCol="false" tIns="0" lIns="0" bIns="0" rIns="0">
            <a:spAutoFit/>
          </a:bodyPr>
          <a:lstStyle/>
          <a:p>
            <a:pPr algn="l">
              <a:lnSpc>
                <a:spcPts val="8400"/>
              </a:lnSpc>
            </a:pPr>
            <a:r>
              <a:rPr lang="en-US" b="true" sz="5000" i="true" u="sng">
                <a:solidFill>
                  <a:srgbClr val="FFFFFF"/>
                </a:solidFill>
                <a:latin typeface="Arial Bold Italics"/>
                <a:ea typeface="Arial Bold Italics"/>
                <a:cs typeface="Arial Bold Italics"/>
                <a:sym typeface="Arial Bold Italics"/>
              </a:rPr>
              <a:t>TEAM NAME :</a:t>
            </a:r>
            <a:r>
              <a:rPr lang="en-US" b="true" sz="5000" i="true">
                <a:solidFill>
                  <a:srgbClr val="FFFFFF"/>
                </a:solidFill>
                <a:latin typeface="Arial Bold Italics"/>
                <a:ea typeface="Arial Bold Italics"/>
                <a:cs typeface="Arial Bold Italics"/>
                <a:sym typeface="Arial Bold Italics"/>
              </a:rPr>
              <a:t> </a:t>
            </a:r>
          </a:p>
        </p:txBody>
      </p:sp>
      <p:sp>
        <p:nvSpPr>
          <p:cNvPr name="TextBox 4" id="4"/>
          <p:cNvSpPr txBox="true"/>
          <p:nvPr/>
        </p:nvSpPr>
        <p:spPr>
          <a:xfrm rot="0">
            <a:off x="-2113103" y="2508459"/>
            <a:ext cx="11736705" cy="1019174"/>
          </a:xfrm>
          <a:prstGeom prst="rect">
            <a:avLst/>
          </a:prstGeom>
        </p:spPr>
        <p:txBody>
          <a:bodyPr anchor="t" rtlCol="false" tIns="0" lIns="0" bIns="0" rIns="0">
            <a:spAutoFit/>
          </a:bodyPr>
          <a:lstStyle/>
          <a:p>
            <a:pPr algn="ctr">
              <a:lnSpc>
                <a:spcPts val="8400"/>
              </a:lnSpc>
              <a:spcBef>
                <a:spcPct val="0"/>
              </a:spcBef>
            </a:pPr>
            <a:r>
              <a:rPr lang="en-US" b="true" sz="5000" i="true" u="sng">
                <a:solidFill>
                  <a:srgbClr val="FFFFFF"/>
                </a:solidFill>
                <a:latin typeface="Arial Bold Italics"/>
                <a:ea typeface="Arial Bold Italics"/>
                <a:cs typeface="Arial Bold Italics"/>
                <a:sym typeface="Arial Bold Italics"/>
              </a:rPr>
              <a:t>MEMBER</a:t>
            </a:r>
            <a:r>
              <a:rPr lang="en-US" b="true" sz="5000" i="true" u="sng">
                <a:solidFill>
                  <a:srgbClr val="FFFFFF"/>
                </a:solidFill>
                <a:latin typeface="Arial Bold Italics"/>
                <a:ea typeface="Arial Bold Italics"/>
                <a:cs typeface="Arial Bold Italics"/>
                <a:sym typeface="Arial Bold Italics"/>
              </a:rPr>
              <a:t> DETAILS</a:t>
            </a:r>
          </a:p>
        </p:txBody>
      </p:sp>
      <p:sp>
        <p:nvSpPr>
          <p:cNvPr name="TextBox 5" id="5"/>
          <p:cNvSpPr txBox="true"/>
          <p:nvPr/>
        </p:nvSpPr>
        <p:spPr>
          <a:xfrm rot="0">
            <a:off x="5592249" y="1544288"/>
            <a:ext cx="4786325" cy="1019175"/>
          </a:xfrm>
          <a:prstGeom prst="rect">
            <a:avLst/>
          </a:prstGeom>
        </p:spPr>
        <p:txBody>
          <a:bodyPr anchor="t" rtlCol="false" tIns="0" lIns="0" bIns="0" rIns="0">
            <a:spAutoFit/>
          </a:bodyPr>
          <a:lstStyle/>
          <a:p>
            <a:pPr algn="l">
              <a:lnSpc>
                <a:spcPts val="8400"/>
              </a:lnSpc>
              <a:spcBef>
                <a:spcPct val="0"/>
              </a:spcBef>
            </a:pPr>
            <a:r>
              <a:rPr lang="en-US" b="true" sz="5000" u="sng">
                <a:solidFill>
                  <a:srgbClr val="FFFFFF"/>
                </a:solidFill>
                <a:latin typeface="Arial Bold"/>
                <a:ea typeface="Arial Bold"/>
                <a:cs typeface="Arial Bold"/>
                <a:sym typeface="Arial Bold"/>
              </a:rPr>
              <a:t>TechSlayers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723781" y="1404995"/>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1028700" y="3043914"/>
            <a:ext cx="15716251" cy="5495925"/>
          </a:xfrm>
          <a:prstGeom prst="rect">
            <a:avLst/>
          </a:prstGeom>
        </p:spPr>
        <p:txBody>
          <a:bodyPr anchor="t" rtlCol="false" tIns="0" lIns="0" bIns="0" rIns="0">
            <a:spAutoFit/>
          </a:bodyPr>
          <a:lstStyle/>
          <a:p>
            <a:pPr algn="l">
              <a:lnSpc>
                <a:spcPts val="4320"/>
              </a:lnSpc>
            </a:pPr>
            <a:r>
              <a:rPr lang="en-US" sz="3600">
                <a:solidFill>
                  <a:srgbClr val="FFFFFF"/>
                </a:solidFill>
                <a:latin typeface="Calibri (MS)"/>
                <a:ea typeface="Calibri (MS)"/>
                <a:cs typeface="Calibri (MS)"/>
                <a:sym typeface="Calibri (MS)"/>
              </a:rPr>
              <a:t>Vis</a:t>
            </a:r>
            <a:r>
              <a:rPr lang="en-US" sz="3600">
                <a:solidFill>
                  <a:srgbClr val="FFFFFF"/>
                </a:solidFill>
                <a:latin typeface="Calibri (MS)"/>
                <a:ea typeface="Calibri (MS)"/>
                <a:cs typeface="Calibri (MS)"/>
                <a:sym typeface="Calibri (MS)"/>
              </a:rPr>
              <a:t>ual spoofing is the leading breach vector for banking and higher education. These "pixel-perfect" clones replicate site architecture so precisely they bypass traditional URL-based heuristics.</a:t>
            </a:r>
          </a:p>
          <a:p>
            <a:pPr algn="l">
              <a:lnSpc>
                <a:spcPts val="4320"/>
              </a:lnSpc>
            </a:pPr>
          </a:p>
          <a:p>
            <a:pPr algn="l">
              <a:lnSpc>
                <a:spcPts val="4320"/>
              </a:lnSpc>
            </a:pPr>
            <a:r>
              <a:rPr lang="en-US" sz="3600">
                <a:solidFill>
                  <a:srgbClr val="FFFFFF"/>
                </a:solidFill>
                <a:latin typeface="Calibri (MS)"/>
                <a:ea typeface="Calibri (MS)"/>
                <a:cs typeface="Calibri (MS)"/>
                <a:sym typeface="Calibri (MS)"/>
              </a:rPr>
              <a:t>The critical escalation is Zero-Day Phishing. These attacks utilize newly registered, "clean" domains with no historical footprint, allowing them to slip past reputation-based filters undetected. Because they lack a known signature, they function as a zero-day vulnerability for the human element. By the time security lists update, the breach is finished. Modern defense requires Computer Vision AI to detect visual impersonation instantly, regardless of the URL's age or reputation.</a:t>
            </a:r>
          </a:p>
        </p:txBody>
      </p:sp>
      <p:sp>
        <p:nvSpPr>
          <p:cNvPr name="TextBox 4" id="4"/>
          <p:cNvSpPr txBox="true"/>
          <p:nvPr/>
        </p:nvSpPr>
        <p:spPr>
          <a:xfrm rot="0">
            <a:off x="1028700" y="1510127"/>
            <a:ext cx="10691818" cy="1122045"/>
          </a:xfrm>
          <a:prstGeom prst="rect">
            <a:avLst/>
          </a:prstGeom>
        </p:spPr>
        <p:txBody>
          <a:bodyPr anchor="t" rtlCol="false" tIns="0" lIns="0" bIns="0" rIns="0">
            <a:spAutoFit/>
          </a:bodyPr>
          <a:lstStyle/>
          <a:p>
            <a:pPr algn="l">
              <a:lnSpc>
                <a:spcPts val="9239"/>
              </a:lnSpc>
            </a:pPr>
            <a:r>
              <a:rPr lang="en-US" b="true" sz="5499" i="true" u="sng">
                <a:solidFill>
                  <a:srgbClr val="FFFFFF"/>
                </a:solidFill>
                <a:latin typeface="Arial Bold Italics"/>
                <a:ea typeface="Arial Bold Italics"/>
                <a:cs typeface="Arial Bold Italics"/>
                <a:sym typeface="Arial Bold Italics"/>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529605" y="1317460"/>
            <a:ext cx="8840437" cy="8840437"/>
          </a:xfrm>
          <a:custGeom>
            <a:avLst/>
            <a:gdLst/>
            <a:ahLst/>
            <a:cxnLst/>
            <a:rect r="r" b="b" t="t" l="l"/>
            <a:pathLst>
              <a:path h="8840437" w="8840437">
                <a:moveTo>
                  <a:pt x="0" y="0"/>
                </a:moveTo>
                <a:lnTo>
                  <a:pt x="8840437" y="0"/>
                </a:lnTo>
                <a:lnTo>
                  <a:pt x="8840437"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318025" y="2768697"/>
            <a:ext cx="17263596" cy="7125081"/>
          </a:xfrm>
          <a:prstGeom prst="rect">
            <a:avLst/>
          </a:prstGeom>
        </p:spPr>
        <p:txBody>
          <a:bodyPr anchor="t" rtlCol="false" tIns="0" lIns="0" bIns="0" rIns="0">
            <a:spAutoFit/>
          </a:bodyPr>
          <a:lstStyle/>
          <a:p>
            <a:pPr algn="l" marL="971550" indent="-485775" lvl="1">
              <a:lnSpc>
                <a:spcPts val="6480"/>
              </a:lnSpc>
              <a:buFont typeface="Arial"/>
              <a:buChar char="•"/>
            </a:pPr>
            <a:r>
              <a:rPr lang="en-US" b="true" sz="4500">
                <a:solidFill>
                  <a:srgbClr val="FFFFFF"/>
                </a:solidFill>
                <a:latin typeface="Calibri (MS) Bold"/>
                <a:ea typeface="Calibri (MS) Bold"/>
                <a:cs typeface="Calibri (MS) Bold"/>
                <a:sym typeface="Calibri (MS) Bold"/>
              </a:rPr>
              <a:t>URL Blacklists</a:t>
            </a:r>
            <a:r>
              <a:rPr lang="en-US" sz="4500">
                <a:solidFill>
                  <a:srgbClr val="FFFFFF"/>
                </a:solidFill>
                <a:latin typeface="Calibri (MS)"/>
                <a:ea typeface="Calibri (MS)"/>
                <a:cs typeface="Calibri (MS)"/>
                <a:sym typeface="Calibri (MS)"/>
              </a:rPr>
              <a:t>:</a:t>
            </a:r>
          </a:p>
          <a:p>
            <a:pPr algn="l" marL="1554480" indent="-518160" lvl="2">
              <a:lnSpc>
                <a:spcPts val="5184"/>
              </a:lnSpc>
              <a:buFont typeface="Arial"/>
              <a:buChar char="⚬"/>
            </a:pPr>
            <a:r>
              <a:rPr lang="en-US" b="true" sz="3600">
                <a:solidFill>
                  <a:srgbClr val="FFFFFF"/>
                </a:solidFill>
                <a:latin typeface="Calibri (MS) Bold"/>
                <a:ea typeface="Calibri (MS) Bold"/>
                <a:cs typeface="Calibri (MS) Bold"/>
                <a:sym typeface="Calibri (MS) Bold"/>
              </a:rPr>
              <a:t>Limitation</a:t>
            </a:r>
            <a:r>
              <a:rPr lang="en-US" sz="3600">
                <a:solidFill>
                  <a:srgbClr val="FFFFFF"/>
                </a:solidFill>
                <a:latin typeface="Calibri (MS)"/>
                <a:ea typeface="Calibri (MS)"/>
                <a:cs typeface="Calibri (MS)"/>
                <a:sym typeface="Calibri (MS)"/>
              </a:rPr>
              <a:t>: Reactive. Takes h</a:t>
            </a:r>
            <a:r>
              <a:rPr lang="en-US" sz="3600">
                <a:solidFill>
                  <a:srgbClr val="FFFFFF"/>
                </a:solidFill>
                <a:latin typeface="Calibri (MS)"/>
                <a:ea typeface="Calibri (MS)"/>
                <a:cs typeface="Calibri (MS)"/>
                <a:sym typeface="Calibri (MS)"/>
              </a:rPr>
              <a:t>ours/days to update; fails against zero-day sites created seconds ago.</a:t>
            </a:r>
          </a:p>
          <a:p>
            <a:pPr algn="l" marL="971550" indent="-485775" lvl="1">
              <a:lnSpc>
                <a:spcPts val="6480"/>
              </a:lnSpc>
              <a:buFont typeface="Arial"/>
              <a:buChar char="•"/>
            </a:pPr>
            <a:r>
              <a:rPr lang="en-US" b="true" sz="4500">
                <a:solidFill>
                  <a:srgbClr val="FFFFFF"/>
                </a:solidFill>
                <a:latin typeface="Calibri (MS) Bold"/>
                <a:ea typeface="Calibri (MS) Bold"/>
                <a:cs typeface="Calibri (MS) Bold"/>
                <a:sym typeface="Calibri (MS) Bold"/>
              </a:rPr>
              <a:t>SSL Certificate Check:</a:t>
            </a:r>
          </a:p>
          <a:p>
            <a:pPr algn="l" marL="1554480" indent="-518160" lvl="2">
              <a:lnSpc>
                <a:spcPts val="5184"/>
              </a:lnSpc>
              <a:buFont typeface="Arial"/>
              <a:buChar char="⚬"/>
            </a:pPr>
            <a:r>
              <a:rPr lang="en-US" sz="3600">
                <a:solidFill>
                  <a:srgbClr val="FFFFFF"/>
                </a:solidFill>
                <a:latin typeface="Calibri (MS)"/>
                <a:ea typeface="Calibri (MS)"/>
                <a:cs typeface="Calibri (MS)"/>
                <a:sym typeface="Calibri (MS)"/>
              </a:rPr>
              <a:t>Limitation: 58% of phishing sites now use valid HTTPS (padlock icon), rendering this check useless for trust verification.</a:t>
            </a:r>
          </a:p>
          <a:p>
            <a:pPr algn="l" marL="971550" indent="-485775" lvl="1">
              <a:lnSpc>
                <a:spcPts val="6480"/>
              </a:lnSpc>
              <a:buFont typeface="Arial"/>
              <a:buChar char="•"/>
            </a:pPr>
            <a:r>
              <a:rPr lang="en-US" b="true" sz="4500">
                <a:solidFill>
                  <a:srgbClr val="FFFFFF"/>
                </a:solidFill>
                <a:latin typeface="Calibri (MS) Bold"/>
                <a:ea typeface="Calibri (MS) Bold"/>
                <a:cs typeface="Calibri (MS) Bold"/>
                <a:sym typeface="Calibri (MS) Bold"/>
              </a:rPr>
              <a:t>Traditional Antivirus:</a:t>
            </a:r>
          </a:p>
          <a:p>
            <a:pPr algn="l" marL="1554480" indent="-518160" lvl="2">
              <a:lnSpc>
                <a:spcPts val="5184"/>
              </a:lnSpc>
              <a:buFont typeface="Arial"/>
              <a:buChar char="⚬"/>
            </a:pPr>
            <a:r>
              <a:rPr lang="en-US" sz="3600">
                <a:solidFill>
                  <a:srgbClr val="FFFFFF"/>
                </a:solidFill>
                <a:latin typeface="Calibri (MS)"/>
                <a:ea typeface="Calibri (MS)"/>
                <a:cs typeface="Calibri (MS)"/>
                <a:sym typeface="Calibri (MS)"/>
              </a:rPr>
              <a:t>Limitation: Relies on file scanning or signature matching, often missing browser-based DOM (Document Object Model) manipulation.</a:t>
            </a:r>
          </a:p>
          <a:p>
            <a:pPr algn="l">
              <a:lnSpc>
                <a:spcPts val="5184"/>
              </a:lnSpc>
            </a:pPr>
          </a:p>
        </p:txBody>
      </p:sp>
      <p:sp>
        <p:nvSpPr>
          <p:cNvPr name="TextBox 4" id="4"/>
          <p:cNvSpPr txBox="true"/>
          <p:nvPr/>
        </p:nvSpPr>
        <p:spPr>
          <a:xfrm rot="0">
            <a:off x="1028700" y="1031710"/>
            <a:ext cx="9067200" cy="1122045"/>
          </a:xfrm>
          <a:prstGeom prst="rect">
            <a:avLst/>
          </a:prstGeom>
        </p:spPr>
        <p:txBody>
          <a:bodyPr anchor="t" rtlCol="false" tIns="0" lIns="0" bIns="0" rIns="0">
            <a:spAutoFit/>
          </a:bodyPr>
          <a:lstStyle/>
          <a:p>
            <a:pPr algn="l">
              <a:lnSpc>
                <a:spcPts val="9239"/>
              </a:lnSpc>
            </a:pPr>
            <a:r>
              <a:rPr lang="en-US" b="true" sz="5499" i="true" u="sng">
                <a:solidFill>
                  <a:srgbClr val="FFFFFF"/>
                </a:solidFill>
                <a:latin typeface="Arial Bold Italics"/>
                <a:ea typeface="Arial Bold Italics"/>
                <a:cs typeface="Arial Bold Italics"/>
                <a:sym typeface="Arial Bold Italics"/>
              </a:rPr>
              <a:t>Existing Systems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553417" y="1317460"/>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373700" y="2716932"/>
            <a:ext cx="16889895" cy="6197346"/>
          </a:xfrm>
          <a:prstGeom prst="rect">
            <a:avLst/>
          </a:prstGeom>
        </p:spPr>
        <p:txBody>
          <a:bodyPr anchor="t" rtlCol="false" tIns="0" lIns="0" bIns="0" rIns="0">
            <a:spAutoFit/>
          </a:bodyPr>
          <a:lstStyle/>
          <a:p>
            <a:pPr algn="l" marL="777240" indent="-388620" lvl="1">
              <a:lnSpc>
                <a:spcPts val="5472"/>
              </a:lnSpc>
              <a:buFont typeface="Arial"/>
              <a:buChar char="•"/>
            </a:pPr>
            <a:r>
              <a:rPr lang="en-US" sz="3600">
                <a:solidFill>
                  <a:srgbClr val="FFFFFF"/>
                </a:solidFill>
                <a:latin typeface="Calibri (MS)"/>
                <a:ea typeface="Calibri (MS)"/>
                <a:cs typeface="Calibri (MS)"/>
                <a:sym typeface="Calibri (MS)"/>
              </a:rPr>
              <a:t>Phishing Sentinel Ec</a:t>
            </a:r>
            <a:r>
              <a:rPr lang="en-US" sz="3600">
                <a:solidFill>
                  <a:srgbClr val="FFFFFF"/>
                </a:solidFill>
                <a:latin typeface="Calibri (MS)"/>
                <a:ea typeface="Calibri (MS)"/>
                <a:cs typeface="Calibri (MS)"/>
                <a:sym typeface="Calibri (MS)"/>
              </a:rPr>
              <a:t>osystem: A dual-layer intelligent defense system comprising "The Guardian" (Browser Extension) and "The Intelligence Hub" (Web Portal).</a:t>
            </a:r>
          </a:p>
          <a:p>
            <a:pPr algn="l" marL="777240" indent="-388620" lvl="1">
              <a:lnSpc>
                <a:spcPts val="5472"/>
              </a:lnSpc>
              <a:buFont typeface="Arial"/>
              <a:buChar char="•"/>
            </a:pPr>
            <a:r>
              <a:rPr lang="en-US" b="true" sz="3600">
                <a:solidFill>
                  <a:srgbClr val="FFFFFF"/>
                </a:solidFill>
                <a:latin typeface="Calibri (MS) Bold"/>
                <a:ea typeface="Calibri (MS) Bold"/>
                <a:cs typeface="Calibri (MS) Bold"/>
                <a:sym typeface="Calibri (MS) Bold"/>
              </a:rPr>
              <a:t>Core Logic</a:t>
            </a:r>
            <a:r>
              <a:rPr lang="en-US" sz="3600">
                <a:solidFill>
                  <a:srgbClr val="FFFFFF"/>
                </a:solidFill>
                <a:latin typeface="Calibri (MS)"/>
                <a:ea typeface="Calibri (MS)"/>
                <a:cs typeface="Calibri (MS)"/>
                <a:sym typeface="Calibri (MS)"/>
              </a:rPr>
              <a:t>: Unlike standard filters that read URLs, our system "looks" at the website like a human. It uses a lightweight Computer Vision &amp; DOM Analysis model to detect if a site is visually pretending to be a target (e.g., a fake HDFC login page) regardless of the URL.</a:t>
            </a:r>
          </a:p>
          <a:p>
            <a:pPr algn="l" marL="777240" indent="-388620" lvl="1">
              <a:lnSpc>
                <a:spcPts val="5472"/>
              </a:lnSpc>
              <a:buFont typeface="Arial"/>
              <a:buChar char="•"/>
            </a:pPr>
            <a:r>
              <a:rPr lang="en-US" b="true" sz="3600">
                <a:solidFill>
                  <a:srgbClr val="FFFFFF"/>
                </a:solidFill>
                <a:latin typeface="Calibri (MS) Bold"/>
                <a:ea typeface="Calibri (MS) Bold"/>
                <a:cs typeface="Calibri (MS) Bold"/>
                <a:sym typeface="Calibri (MS) Bold"/>
              </a:rPr>
              <a:t>Action</a:t>
            </a:r>
            <a:r>
              <a:rPr lang="en-US" sz="3600">
                <a:solidFill>
                  <a:srgbClr val="FFFFFF"/>
                </a:solidFill>
                <a:latin typeface="Calibri (MS)"/>
                <a:ea typeface="Calibri (MS)"/>
                <a:cs typeface="Calibri (MS)"/>
                <a:sym typeface="Calibri (MS)"/>
              </a:rPr>
              <a:t>: Real-time interception and blocking of malicious sites before the user can enter credentials.</a:t>
            </a:r>
          </a:p>
          <a:p>
            <a:pPr algn="l">
              <a:lnSpc>
                <a:spcPts val="5472"/>
              </a:lnSpc>
            </a:pPr>
          </a:p>
        </p:txBody>
      </p:sp>
      <p:sp>
        <p:nvSpPr>
          <p:cNvPr name="TextBox 4" id="4"/>
          <p:cNvSpPr txBox="true"/>
          <p:nvPr/>
        </p:nvSpPr>
        <p:spPr>
          <a:xfrm rot="0">
            <a:off x="873890" y="1508855"/>
            <a:ext cx="7290912" cy="1207770"/>
          </a:xfrm>
          <a:prstGeom prst="rect">
            <a:avLst/>
          </a:prstGeom>
        </p:spPr>
        <p:txBody>
          <a:bodyPr anchor="t" rtlCol="false" tIns="0" lIns="0" bIns="0" rIns="0">
            <a:spAutoFit/>
          </a:bodyPr>
          <a:lstStyle/>
          <a:p>
            <a:pPr algn="l">
              <a:lnSpc>
                <a:spcPts val="9239"/>
              </a:lnSpc>
            </a:pPr>
            <a:r>
              <a:rPr lang="en-US" sz="5499" u="sng">
                <a:solidFill>
                  <a:srgbClr val="FFFFFF"/>
                </a:solidFill>
                <a:latin typeface="Calibri (MS)"/>
                <a:ea typeface="Calibri (MS)"/>
                <a:cs typeface="Calibri (MS)"/>
                <a:sym typeface="Calibri (MS)"/>
              </a:rPr>
              <a:t>PROPOSED SOLUTION: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723781" y="1317460"/>
            <a:ext cx="8840437" cy="8969540"/>
          </a:xfrm>
          <a:custGeom>
            <a:avLst/>
            <a:gdLst/>
            <a:ahLst/>
            <a:cxnLst/>
            <a:rect r="r" b="b" t="t" l="l"/>
            <a:pathLst>
              <a:path h="8969540" w="8840437">
                <a:moveTo>
                  <a:pt x="0" y="0"/>
                </a:moveTo>
                <a:lnTo>
                  <a:pt x="8840438" y="0"/>
                </a:lnTo>
                <a:lnTo>
                  <a:pt x="8840438" y="8969540"/>
                </a:lnTo>
                <a:lnTo>
                  <a:pt x="0" y="8969540"/>
                </a:lnTo>
                <a:lnTo>
                  <a:pt x="0" y="0"/>
                </a:lnTo>
                <a:close/>
              </a:path>
            </a:pathLst>
          </a:custGeom>
          <a:blipFill>
            <a:blip r:embed="rId3">
              <a:alphaModFix amt="70000"/>
            </a:blip>
            <a:stretch>
              <a:fillRect l="-730" t="0" r="-730" b="0"/>
            </a:stretch>
          </a:blipFill>
        </p:spPr>
      </p:sp>
      <p:sp>
        <p:nvSpPr>
          <p:cNvPr name="TextBox 3" id="3"/>
          <p:cNvSpPr txBox="true"/>
          <p:nvPr/>
        </p:nvSpPr>
        <p:spPr>
          <a:xfrm rot="0">
            <a:off x="594405" y="2956702"/>
            <a:ext cx="17099191" cy="5305044"/>
          </a:xfrm>
          <a:prstGeom prst="rect">
            <a:avLst/>
          </a:prstGeom>
        </p:spPr>
        <p:txBody>
          <a:bodyPr anchor="t" rtlCol="false" tIns="0" lIns="0" bIns="0" rIns="0">
            <a:spAutoFit/>
          </a:bodyPr>
          <a:lstStyle/>
          <a:p>
            <a:pPr algn="l" marL="777240" indent="-388620" lvl="1">
              <a:lnSpc>
                <a:spcPts val="6048"/>
              </a:lnSpc>
              <a:spcBef>
                <a:spcPct val="0"/>
              </a:spcBef>
              <a:buFont typeface="Arial"/>
              <a:buChar char="•"/>
            </a:pPr>
            <a:r>
              <a:rPr lang="en-US" sz="3600">
                <a:solidFill>
                  <a:srgbClr val="FFFFFF"/>
                </a:solidFill>
                <a:latin typeface="Arial"/>
                <a:ea typeface="Arial"/>
                <a:cs typeface="Arial"/>
                <a:sym typeface="Arial"/>
              </a:rPr>
              <a:t>Visual-Structural Analysis: We analyze the structure (DOM) and visuals of the page, n</a:t>
            </a:r>
            <a:r>
              <a:rPr lang="en-US" sz="3600">
                <a:solidFill>
                  <a:srgbClr val="FFFFFF"/>
                </a:solidFill>
                <a:latin typeface="Arial"/>
                <a:ea typeface="Arial"/>
                <a:cs typeface="Arial"/>
                <a:sym typeface="Arial"/>
              </a:rPr>
              <a:t>ot just the text URL.</a:t>
            </a:r>
          </a:p>
          <a:p>
            <a:pPr algn="l" marL="777240" indent="-388620" lvl="1">
              <a:lnSpc>
                <a:spcPts val="6048"/>
              </a:lnSpc>
              <a:spcBef>
                <a:spcPct val="0"/>
              </a:spcBef>
              <a:buFont typeface="Arial"/>
              <a:buChar char="•"/>
            </a:pPr>
            <a:r>
              <a:rPr lang="en-US" sz="3600">
                <a:solidFill>
                  <a:srgbClr val="FFFFFF"/>
                </a:solidFill>
                <a:latin typeface="Arial"/>
                <a:ea typeface="Arial"/>
                <a:cs typeface="Arial"/>
                <a:sym typeface="Arial"/>
              </a:rPr>
              <a:t>Edge-First Intelligence: Privacy-preserving ML runs locally on the browser ("Edge Hook"), reducing latency to milliseconds.</a:t>
            </a:r>
          </a:p>
          <a:p>
            <a:pPr algn="l" marL="777240" indent="-388620" lvl="1">
              <a:lnSpc>
                <a:spcPts val="6048"/>
              </a:lnSpc>
              <a:spcBef>
                <a:spcPct val="0"/>
              </a:spcBef>
              <a:buFont typeface="Arial"/>
              <a:buChar char="•"/>
            </a:pPr>
            <a:r>
              <a:rPr lang="en-US" sz="3600">
                <a:solidFill>
                  <a:srgbClr val="FFFFFF"/>
                </a:solidFill>
                <a:latin typeface="Arial"/>
                <a:ea typeface="Arial"/>
                <a:cs typeface="Arial"/>
                <a:sym typeface="Arial"/>
              </a:rPr>
              <a:t>Hybrid Verification: Combines local speed with a "Cloud Sync" deep scan for high-confidence verdict, minimizing false positives.</a:t>
            </a:r>
          </a:p>
          <a:p>
            <a:pPr algn="l">
              <a:lnSpc>
                <a:spcPts val="6048"/>
              </a:lnSpc>
              <a:spcBef>
                <a:spcPct val="0"/>
              </a:spcBef>
            </a:pPr>
          </a:p>
        </p:txBody>
      </p:sp>
      <p:sp>
        <p:nvSpPr>
          <p:cNvPr name="TextBox 4" id="4"/>
          <p:cNvSpPr txBox="true"/>
          <p:nvPr/>
        </p:nvSpPr>
        <p:spPr>
          <a:xfrm rot="0">
            <a:off x="873890" y="1301257"/>
            <a:ext cx="4300487" cy="1207770"/>
          </a:xfrm>
          <a:prstGeom prst="rect">
            <a:avLst/>
          </a:prstGeom>
        </p:spPr>
        <p:txBody>
          <a:bodyPr anchor="t" rtlCol="false" tIns="0" lIns="0" bIns="0" rIns="0">
            <a:spAutoFit/>
          </a:bodyPr>
          <a:lstStyle/>
          <a:p>
            <a:pPr algn="l">
              <a:lnSpc>
                <a:spcPts val="9239"/>
              </a:lnSpc>
            </a:pPr>
            <a:r>
              <a:rPr lang="en-US" sz="5499" u="sng">
                <a:solidFill>
                  <a:srgbClr val="FFFFFF"/>
                </a:solidFill>
                <a:latin typeface="Calibri (MS)"/>
                <a:ea typeface="Calibri (MS)"/>
                <a:cs typeface="Calibri (MS)"/>
                <a:sym typeface="Calibri (MS)"/>
              </a:rPr>
              <a:t>NOVELTY: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553417" y="1317460"/>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531389" y="1704575"/>
            <a:ext cx="15769325" cy="7900035"/>
          </a:xfrm>
          <a:prstGeom prst="rect">
            <a:avLst/>
          </a:prstGeom>
        </p:spPr>
        <p:txBody>
          <a:bodyPr anchor="t" rtlCol="false" tIns="0" lIns="0" bIns="0" rIns="0">
            <a:spAutoFit/>
          </a:bodyPr>
          <a:lstStyle/>
          <a:p>
            <a:pPr algn="l">
              <a:lnSpc>
                <a:spcPts val="7559"/>
              </a:lnSpc>
            </a:pPr>
            <a:r>
              <a:rPr lang="en-US" sz="4500">
                <a:solidFill>
                  <a:srgbClr val="FFFFFF"/>
                </a:solidFill>
                <a:latin typeface="Calibri (MS)"/>
                <a:ea typeface="Calibri (MS)"/>
                <a:cs typeface="Calibri (MS)"/>
                <a:sym typeface="Calibri (MS)"/>
              </a:rPr>
              <a:t>Tech Stack:</a:t>
            </a:r>
          </a:p>
          <a:p>
            <a:pPr algn="l" marL="755651" indent="-377825" lvl="1">
              <a:lnSpc>
                <a:spcPts val="5880"/>
              </a:lnSpc>
              <a:buFont typeface="Arial"/>
              <a:buChar char="•"/>
            </a:pPr>
            <a:r>
              <a:rPr lang="en-US" sz="3500">
                <a:solidFill>
                  <a:srgbClr val="FFFFFF"/>
                </a:solidFill>
                <a:latin typeface="Calibri (MS)"/>
                <a:ea typeface="Calibri (MS)"/>
                <a:cs typeface="Calibri (MS)"/>
                <a:sym typeface="Calibri (MS)"/>
              </a:rPr>
              <a:t>Frontend/Extension: React.js, HTML5, Manifest V3 (Chrome Extension Standard).</a:t>
            </a:r>
          </a:p>
          <a:p>
            <a:pPr algn="l" marL="755651" indent="-377825" lvl="1">
              <a:lnSpc>
                <a:spcPts val="5880"/>
              </a:lnSpc>
              <a:buFont typeface="Arial"/>
              <a:buChar char="•"/>
            </a:pPr>
            <a:r>
              <a:rPr lang="en-US" sz="3500">
                <a:solidFill>
                  <a:srgbClr val="FFFFFF"/>
                </a:solidFill>
                <a:latin typeface="Calibri (MS)"/>
                <a:ea typeface="Calibri (MS)"/>
                <a:cs typeface="Calibri (MS)"/>
                <a:sym typeface="Calibri (MS)"/>
              </a:rPr>
              <a:t>Backend API: Golang (f</a:t>
            </a:r>
            <a:r>
              <a:rPr lang="en-US" sz="3500">
                <a:solidFill>
                  <a:srgbClr val="FFFFFF"/>
                </a:solidFill>
                <a:latin typeface="Calibri (MS)"/>
                <a:ea typeface="Calibri (MS)"/>
                <a:cs typeface="Calibri (MS)"/>
                <a:sym typeface="Calibri (MS)"/>
              </a:rPr>
              <a:t>or high-concurrency request handling).</a:t>
            </a:r>
          </a:p>
          <a:p>
            <a:pPr algn="l" marL="755651" indent="-377825" lvl="1">
              <a:lnSpc>
                <a:spcPts val="5880"/>
              </a:lnSpc>
              <a:buFont typeface="Arial"/>
              <a:buChar char="•"/>
            </a:pPr>
            <a:r>
              <a:rPr lang="en-US" sz="3500">
                <a:solidFill>
                  <a:srgbClr val="FFFFFF"/>
                </a:solidFill>
                <a:latin typeface="Calibri (MS)"/>
                <a:ea typeface="Calibri (MS)"/>
                <a:cs typeface="Calibri (MS)"/>
                <a:sym typeface="Calibri (MS)"/>
              </a:rPr>
              <a:t>ML Engine: PyTorch &amp; FastAPI (Python) for DOM structure inference.</a:t>
            </a:r>
          </a:p>
          <a:p>
            <a:pPr algn="l" marL="755651" indent="-377825" lvl="1">
              <a:lnSpc>
                <a:spcPts val="5880"/>
              </a:lnSpc>
              <a:buFont typeface="Arial"/>
              <a:buChar char="•"/>
            </a:pPr>
            <a:r>
              <a:rPr lang="en-US" sz="3500">
                <a:solidFill>
                  <a:srgbClr val="FFFFFF"/>
                </a:solidFill>
                <a:latin typeface="Calibri (MS)"/>
                <a:ea typeface="Calibri (MS)"/>
                <a:cs typeface="Calibri (MS)"/>
                <a:sym typeface="Calibri (MS)"/>
              </a:rPr>
              <a:t>Database: PostgreSQL (Supabase).</a:t>
            </a:r>
          </a:p>
          <a:p>
            <a:pPr algn="l">
              <a:lnSpc>
                <a:spcPts val="7559"/>
              </a:lnSpc>
              <a:spcBef>
                <a:spcPct val="0"/>
              </a:spcBef>
            </a:pPr>
            <a:r>
              <a:rPr lang="en-US" sz="4500">
                <a:solidFill>
                  <a:srgbClr val="FFFFFF"/>
                </a:solidFill>
                <a:latin typeface="Calibri (MS)"/>
                <a:ea typeface="Calibri (MS)"/>
                <a:cs typeface="Calibri (MS)"/>
                <a:sym typeface="Calibri (MS)"/>
              </a:rPr>
              <a:t>Solving Approach (Workflow):</a:t>
            </a:r>
          </a:p>
          <a:p>
            <a:pPr algn="l" marL="755651" indent="-377825" lvl="1">
              <a:lnSpc>
                <a:spcPts val="5880"/>
              </a:lnSpc>
              <a:spcBef>
                <a:spcPct val="0"/>
              </a:spcBef>
              <a:buAutoNum type="arabicPeriod" startAt="1"/>
            </a:pPr>
            <a:r>
              <a:rPr lang="en-US" sz="3500">
                <a:solidFill>
                  <a:srgbClr val="FFFFFF"/>
                </a:solidFill>
                <a:latin typeface="Calibri (MS)"/>
                <a:ea typeface="Calibri (MS)"/>
                <a:cs typeface="Calibri (MS)"/>
                <a:sym typeface="Calibri (MS)"/>
              </a:rPr>
              <a:t>Intercept: Extension detects page load.</a:t>
            </a:r>
          </a:p>
          <a:p>
            <a:pPr algn="l" marL="755651" indent="-377825" lvl="1">
              <a:lnSpc>
                <a:spcPts val="5880"/>
              </a:lnSpc>
              <a:spcBef>
                <a:spcPct val="0"/>
              </a:spcBef>
              <a:buAutoNum type="arabicPeriod" startAt="1"/>
            </a:pPr>
            <a:r>
              <a:rPr lang="en-US" sz="3500">
                <a:solidFill>
                  <a:srgbClr val="FFFFFF"/>
                </a:solidFill>
                <a:latin typeface="Calibri (MS)"/>
                <a:ea typeface="Calibri (MS)"/>
                <a:cs typeface="Calibri (MS)"/>
                <a:sym typeface="Calibri (MS)"/>
              </a:rPr>
              <a:t>Extract: Scrapes DOM structure keypoints.</a:t>
            </a:r>
          </a:p>
          <a:p>
            <a:pPr algn="l" marL="755651" indent="-377825" lvl="1">
              <a:lnSpc>
                <a:spcPts val="5880"/>
              </a:lnSpc>
              <a:spcBef>
                <a:spcPct val="0"/>
              </a:spcBef>
              <a:buAutoNum type="arabicPeriod" startAt="1"/>
            </a:pPr>
            <a:r>
              <a:rPr lang="en-US" sz="3500">
                <a:solidFill>
                  <a:srgbClr val="FFFFFF"/>
                </a:solidFill>
                <a:latin typeface="Calibri (MS)"/>
                <a:ea typeface="Calibri (MS)"/>
                <a:cs typeface="Calibri (MS)"/>
                <a:sym typeface="Calibri (MS)"/>
              </a:rPr>
              <a:t>Infer: Local ML model analyze DOM structure.</a:t>
            </a:r>
          </a:p>
          <a:p>
            <a:pPr algn="l" marL="755651" indent="-377825" lvl="1">
              <a:lnSpc>
                <a:spcPts val="5880"/>
              </a:lnSpc>
              <a:spcBef>
                <a:spcPct val="0"/>
              </a:spcBef>
              <a:buAutoNum type="arabicPeriod" startAt="1"/>
            </a:pPr>
            <a:r>
              <a:rPr lang="en-US" sz="3500">
                <a:solidFill>
                  <a:srgbClr val="FFFFFF"/>
                </a:solidFill>
                <a:latin typeface="Calibri (MS)"/>
                <a:ea typeface="Calibri (MS)"/>
                <a:cs typeface="Calibri (MS)"/>
                <a:sym typeface="Calibri (MS)"/>
              </a:rPr>
              <a:t>Verdict: If visual match = High but URL match = Low -&gt; BLOCK.</a:t>
            </a:r>
          </a:p>
        </p:txBody>
      </p:sp>
      <p:sp>
        <p:nvSpPr>
          <p:cNvPr name="Freeform 4" id="4"/>
          <p:cNvSpPr/>
          <p:nvPr/>
        </p:nvSpPr>
        <p:spPr>
          <a:xfrm flipH="false" flipV="false" rot="0">
            <a:off x="9091779" y="5143500"/>
            <a:ext cx="8604151" cy="3520621"/>
          </a:xfrm>
          <a:custGeom>
            <a:avLst/>
            <a:gdLst/>
            <a:ahLst/>
            <a:cxnLst/>
            <a:rect r="r" b="b" t="t" l="l"/>
            <a:pathLst>
              <a:path h="3520621" w="8604151">
                <a:moveTo>
                  <a:pt x="0" y="0"/>
                </a:moveTo>
                <a:lnTo>
                  <a:pt x="8604151" y="0"/>
                </a:lnTo>
                <a:lnTo>
                  <a:pt x="8604151" y="3520621"/>
                </a:lnTo>
                <a:lnTo>
                  <a:pt x="0" y="3520621"/>
                </a:lnTo>
                <a:lnTo>
                  <a:pt x="0" y="0"/>
                </a:lnTo>
                <a:close/>
              </a:path>
            </a:pathLst>
          </a:custGeom>
          <a:blipFill>
            <a:blip r:embed="rId4"/>
            <a:stretch>
              <a:fillRect l="0" t="0" r="0" b="-14253"/>
            </a:stretch>
          </a:blipFill>
        </p:spPr>
      </p:sp>
      <p:sp>
        <p:nvSpPr>
          <p:cNvPr name="TextBox 5" id="5"/>
          <p:cNvSpPr txBox="true"/>
          <p:nvPr/>
        </p:nvSpPr>
        <p:spPr>
          <a:xfrm rot="0">
            <a:off x="578148" y="672560"/>
            <a:ext cx="13885851" cy="1207770"/>
          </a:xfrm>
          <a:prstGeom prst="rect">
            <a:avLst/>
          </a:prstGeom>
        </p:spPr>
        <p:txBody>
          <a:bodyPr anchor="t" rtlCol="false" tIns="0" lIns="0" bIns="0" rIns="0">
            <a:spAutoFit/>
          </a:bodyPr>
          <a:lstStyle/>
          <a:p>
            <a:pPr algn="l">
              <a:lnSpc>
                <a:spcPts val="9239"/>
              </a:lnSpc>
            </a:pPr>
            <a:r>
              <a:rPr lang="en-US" b="true" sz="5499" i="true" u="sng">
                <a:solidFill>
                  <a:srgbClr val="FFFFFF"/>
                </a:solidFill>
                <a:latin typeface="Calibri (MS) Bold Italics"/>
                <a:ea typeface="Calibri (MS) Bold Italics"/>
                <a:cs typeface="Calibri (MS) Bold Italics"/>
                <a:sym typeface="Calibri (MS) Bold Italics"/>
              </a:rPr>
              <a:t>TECH STACK USED AND SOLVING APPROACH: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723781" y="1317460"/>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Freeform 3" id="3"/>
          <p:cNvSpPr/>
          <p:nvPr/>
        </p:nvSpPr>
        <p:spPr>
          <a:xfrm flipH="false" flipV="false" rot="0">
            <a:off x="7521073" y="3873519"/>
            <a:ext cx="10277393" cy="4798945"/>
          </a:xfrm>
          <a:custGeom>
            <a:avLst/>
            <a:gdLst/>
            <a:ahLst/>
            <a:cxnLst/>
            <a:rect r="r" b="b" t="t" l="l"/>
            <a:pathLst>
              <a:path h="4798945" w="10277393">
                <a:moveTo>
                  <a:pt x="0" y="0"/>
                </a:moveTo>
                <a:lnTo>
                  <a:pt x="10277393" y="0"/>
                </a:lnTo>
                <a:lnTo>
                  <a:pt x="10277393" y="4798945"/>
                </a:lnTo>
                <a:lnTo>
                  <a:pt x="0" y="4798945"/>
                </a:lnTo>
                <a:lnTo>
                  <a:pt x="0" y="0"/>
                </a:lnTo>
                <a:close/>
              </a:path>
            </a:pathLst>
          </a:custGeom>
          <a:blipFill>
            <a:blip r:embed="rId4"/>
            <a:stretch>
              <a:fillRect l="-4689" t="-75956" r="-8248" b="-65910"/>
            </a:stretch>
          </a:blipFill>
        </p:spPr>
      </p:sp>
      <p:sp>
        <p:nvSpPr>
          <p:cNvPr name="TextBox 4" id="4"/>
          <p:cNvSpPr txBox="true"/>
          <p:nvPr/>
        </p:nvSpPr>
        <p:spPr>
          <a:xfrm rot="0">
            <a:off x="354365" y="2894657"/>
            <a:ext cx="6860687" cy="4120171"/>
          </a:xfrm>
          <a:prstGeom prst="rect">
            <a:avLst/>
          </a:prstGeom>
        </p:spPr>
        <p:txBody>
          <a:bodyPr anchor="t" rtlCol="false" tIns="0" lIns="0" bIns="0" rIns="0">
            <a:spAutoFit/>
          </a:bodyPr>
          <a:lstStyle/>
          <a:p>
            <a:pPr algn="l" marL="418715" indent="-209357" lvl="1">
              <a:lnSpc>
                <a:spcPts val="3258"/>
              </a:lnSpc>
              <a:spcBef>
                <a:spcPct val="0"/>
              </a:spcBef>
              <a:buAutoNum type="arabicPeriod" startAt="1"/>
            </a:pPr>
            <a:r>
              <a:rPr lang="en-US" sz="1939">
                <a:solidFill>
                  <a:srgbClr val="FFFFFF"/>
                </a:solidFill>
                <a:latin typeface="Calibri (MS)"/>
                <a:ea typeface="Calibri (MS)"/>
                <a:cs typeface="Calibri (MS)"/>
                <a:sym typeface="Calibri (MS)"/>
              </a:rPr>
              <a:t>User Layer: Br</a:t>
            </a:r>
            <a:r>
              <a:rPr lang="en-US" sz="1939">
                <a:solidFill>
                  <a:srgbClr val="FFFFFF"/>
                </a:solidFill>
                <a:latin typeface="Calibri (MS)"/>
                <a:ea typeface="Calibri (MS)"/>
                <a:cs typeface="Calibri (MS)"/>
                <a:sym typeface="Calibri (MS)"/>
              </a:rPr>
              <a:t>owser Tab (User visits site).</a:t>
            </a:r>
          </a:p>
          <a:p>
            <a:pPr algn="l" marL="418715" indent="-209357" lvl="1">
              <a:lnSpc>
                <a:spcPts val="3258"/>
              </a:lnSpc>
              <a:spcBef>
                <a:spcPct val="0"/>
              </a:spcBef>
              <a:buAutoNum type="arabicPeriod" startAt="1"/>
            </a:pPr>
            <a:r>
              <a:rPr lang="en-US" sz="1939">
                <a:solidFill>
                  <a:srgbClr val="FFFFFF"/>
                </a:solidFill>
                <a:latin typeface="Calibri (MS)"/>
                <a:ea typeface="Calibri (MS)"/>
                <a:cs typeface="Calibri (MS)"/>
                <a:sym typeface="Calibri (MS)"/>
              </a:rPr>
              <a:t>Edge Layer: "The Guardian" Extension acts as a middleware.</a:t>
            </a:r>
          </a:p>
          <a:p>
            <a:pPr algn="l" marL="837429" indent="-279143" lvl="2">
              <a:lnSpc>
                <a:spcPts val="3258"/>
              </a:lnSpc>
              <a:spcBef>
                <a:spcPct val="0"/>
              </a:spcBef>
              <a:buFont typeface="Arial"/>
              <a:buChar char="⚬"/>
            </a:pPr>
            <a:r>
              <a:rPr lang="en-US" sz="1939">
                <a:solidFill>
                  <a:srgbClr val="FFFFFF"/>
                </a:solidFill>
                <a:latin typeface="Calibri (MS)"/>
                <a:ea typeface="Calibri (MS)"/>
                <a:cs typeface="Calibri (MS)"/>
                <a:sym typeface="Calibri (MS)"/>
              </a:rPr>
              <a:t>Arrow to: Local Inference Engine (Lightweight JS Model).</a:t>
            </a:r>
          </a:p>
          <a:p>
            <a:pPr algn="l" marL="418715" indent="-209357" lvl="1">
              <a:lnSpc>
                <a:spcPts val="3258"/>
              </a:lnSpc>
              <a:spcBef>
                <a:spcPct val="0"/>
              </a:spcBef>
              <a:buAutoNum type="arabicPeriod" startAt="1"/>
            </a:pPr>
            <a:r>
              <a:rPr lang="en-US" sz="1939">
                <a:solidFill>
                  <a:srgbClr val="FFFFFF"/>
                </a:solidFill>
                <a:latin typeface="Calibri (MS)"/>
                <a:ea typeface="Calibri (MS)"/>
                <a:cs typeface="Calibri (MS)"/>
                <a:sym typeface="Calibri (MS)"/>
              </a:rPr>
              <a:t>Cloud Layer:</a:t>
            </a:r>
          </a:p>
          <a:p>
            <a:pPr algn="l" marL="837429" indent="-279143" lvl="2">
              <a:lnSpc>
                <a:spcPts val="3258"/>
              </a:lnSpc>
              <a:spcBef>
                <a:spcPct val="0"/>
              </a:spcBef>
              <a:buFont typeface="Arial"/>
              <a:buChar char="⚬"/>
            </a:pPr>
            <a:r>
              <a:rPr lang="en-US" sz="1939">
                <a:solidFill>
                  <a:srgbClr val="FFFFFF"/>
                </a:solidFill>
                <a:latin typeface="Calibri (MS)"/>
                <a:ea typeface="Calibri (MS)"/>
                <a:cs typeface="Calibri (MS)"/>
                <a:sym typeface="Calibri (MS)"/>
              </a:rPr>
              <a:t>Golang API Gateway receives hash of suspicious site.</a:t>
            </a:r>
          </a:p>
          <a:p>
            <a:pPr algn="l" marL="837429" indent="-279143" lvl="2">
              <a:lnSpc>
                <a:spcPts val="3258"/>
              </a:lnSpc>
              <a:spcBef>
                <a:spcPct val="0"/>
              </a:spcBef>
              <a:buFont typeface="Arial"/>
              <a:buChar char="⚬"/>
            </a:pPr>
            <a:r>
              <a:rPr lang="en-US" sz="1939">
                <a:solidFill>
                  <a:srgbClr val="FFFFFF"/>
                </a:solidFill>
                <a:latin typeface="Calibri (MS)"/>
                <a:ea typeface="Calibri (MS)"/>
                <a:cs typeface="Calibri (MS)"/>
                <a:sym typeface="Calibri (MS)"/>
              </a:rPr>
              <a:t>Arrow to: Python ML Service (Deep Analysis).</a:t>
            </a:r>
          </a:p>
          <a:p>
            <a:pPr algn="l" marL="837429" indent="-279143" lvl="2">
              <a:lnSpc>
                <a:spcPts val="3258"/>
              </a:lnSpc>
              <a:spcBef>
                <a:spcPct val="0"/>
              </a:spcBef>
              <a:buFont typeface="Arial"/>
              <a:buChar char="⚬"/>
            </a:pPr>
            <a:r>
              <a:rPr lang="en-US" sz="1939">
                <a:solidFill>
                  <a:srgbClr val="FFFFFF"/>
                </a:solidFill>
                <a:latin typeface="Calibri (MS)"/>
                <a:ea typeface="Calibri (MS)"/>
                <a:cs typeface="Calibri (MS)"/>
                <a:sym typeface="Calibri (MS)"/>
              </a:rPr>
              <a:t>Arrow to: MySQL Database (Global Threat List).</a:t>
            </a:r>
          </a:p>
          <a:p>
            <a:pPr algn="l" marL="418715" indent="-209357" lvl="1">
              <a:lnSpc>
                <a:spcPts val="3258"/>
              </a:lnSpc>
              <a:spcBef>
                <a:spcPct val="0"/>
              </a:spcBef>
              <a:buAutoNum type="arabicPeriod" startAt="1"/>
            </a:pPr>
            <a:r>
              <a:rPr lang="en-US" sz="1939">
                <a:solidFill>
                  <a:srgbClr val="FFFFFF"/>
                </a:solidFill>
                <a:latin typeface="Calibri (MS)"/>
                <a:ea typeface="Calibri (MS)"/>
                <a:cs typeface="Calibri (MS)"/>
                <a:sym typeface="Calibri (MS)"/>
              </a:rPr>
              <a:t>Feedback Loop: System updates local extension with new threat </a:t>
            </a:r>
          </a:p>
          <a:p>
            <a:pPr algn="l">
              <a:lnSpc>
                <a:spcPts val="3258"/>
              </a:lnSpc>
              <a:spcBef>
                <a:spcPct val="0"/>
              </a:spcBef>
            </a:pPr>
            <a:r>
              <a:rPr lang="en-US" sz="1939">
                <a:solidFill>
                  <a:srgbClr val="FFFFFF"/>
                </a:solidFill>
                <a:latin typeface="Calibri (MS)"/>
                <a:ea typeface="Calibri (MS)"/>
                <a:cs typeface="Calibri (MS)"/>
                <a:sym typeface="Calibri (MS)"/>
              </a:rPr>
              <a:t>       </a:t>
            </a:r>
            <a:r>
              <a:rPr lang="en-US" sz="1939">
                <a:solidFill>
                  <a:srgbClr val="FFFFFF"/>
                </a:solidFill>
                <a:latin typeface="Calibri (MS)"/>
                <a:ea typeface="Calibri (MS)"/>
                <a:cs typeface="Calibri (MS)"/>
                <a:sym typeface="Calibri (MS)"/>
              </a:rPr>
              <a:t>signatures.</a:t>
            </a:r>
          </a:p>
          <a:p>
            <a:pPr algn="l">
              <a:lnSpc>
                <a:spcPts val="3258"/>
              </a:lnSpc>
              <a:spcBef>
                <a:spcPct val="0"/>
              </a:spcBef>
            </a:pPr>
            <a:r>
              <a:rPr lang="en-US" sz="1939">
                <a:solidFill>
                  <a:srgbClr val="FFFFFF"/>
                </a:solidFill>
                <a:latin typeface="Calibri (MS)"/>
                <a:ea typeface="Calibri (MS)"/>
                <a:cs typeface="Calibri (MS)"/>
                <a:sym typeface="Calibri (MS)"/>
              </a:rPr>
              <a:t> </a:t>
            </a:r>
          </a:p>
        </p:txBody>
      </p:sp>
      <p:sp>
        <p:nvSpPr>
          <p:cNvPr name="TextBox 5" id="5"/>
          <p:cNvSpPr txBox="true"/>
          <p:nvPr/>
        </p:nvSpPr>
        <p:spPr>
          <a:xfrm rot="0">
            <a:off x="354365" y="1631761"/>
            <a:ext cx="10372415" cy="1122045"/>
          </a:xfrm>
          <a:prstGeom prst="rect">
            <a:avLst/>
          </a:prstGeom>
        </p:spPr>
        <p:txBody>
          <a:bodyPr anchor="t" rtlCol="false" tIns="0" lIns="0" bIns="0" rIns="0">
            <a:spAutoFit/>
          </a:bodyPr>
          <a:lstStyle/>
          <a:p>
            <a:pPr algn="l">
              <a:lnSpc>
                <a:spcPts val="9239"/>
              </a:lnSpc>
            </a:pPr>
            <a:r>
              <a:rPr lang="en-US" b="true" sz="5499" i="true" u="sng">
                <a:solidFill>
                  <a:srgbClr val="FFFFFF"/>
                </a:solidFill>
                <a:latin typeface="Arial Bold Italics"/>
                <a:ea typeface="Arial Bold Italics"/>
                <a:cs typeface="Arial Bold Italics"/>
                <a:sym typeface="Arial Bold Italics"/>
              </a:rPr>
              <a:t>ARCHITECHTURE DIAGRAM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742831" y="1266949"/>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699902" y="2478242"/>
            <a:ext cx="17588098" cy="7629144"/>
          </a:xfrm>
          <a:prstGeom prst="rect">
            <a:avLst/>
          </a:prstGeom>
        </p:spPr>
        <p:txBody>
          <a:bodyPr anchor="t" rtlCol="false" tIns="0" lIns="0" bIns="0" rIns="0">
            <a:spAutoFit/>
          </a:bodyPr>
          <a:lstStyle/>
          <a:p>
            <a:pPr algn="l" marL="777240" indent="-388620" lvl="1">
              <a:lnSpc>
                <a:spcPts val="6048"/>
              </a:lnSpc>
              <a:buFont typeface="Arial"/>
              <a:buChar char="•"/>
            </a:pPr>
            <a:r>
              <a:rPr lang="en-US" sz="3600">
                <a:solidFill>
                  <a:srgbClr val="FFFFFF"/>
                </a:solidFill>
                <a:latin typeface="Calibri (MS)"/>
                <a:ea typeface="Calibri (MS)"/>
                <a:cs typeface="Calibri (MS)"/>
                <a:sym typeface="Calibri (MS)"/>
              </a:rPr>
              <a:t>Feasibility:</a:t>
            </a:r>
          </a:p>
          <a:p>
            <a:pPr algn="l" marL="1554480" indent="-518160" lvl="2">
              <a:lnSpc>
                <a:spcPts val="6048"/>
              </a:lnSpc>
              <a:spcBef>
                <a:spcPct val="0"/>
              </a:spcBef>
              <a:buFont typeface="Arial"/>
              <a:buChar char="⚬"/>
            </a:pPr>
            <a:r>
              <a:rPr lang="en-US" sz="3600">
                <a:solidFill>
                  <a:srgbClr val="FFFFFF"/>
                </a:solidFill>
                <a:latin typeface="Calibri (MS)"/>
                <a:ea typeface="Calibri (MS)"/>
                <a:cs typeface="Calibri (MS)"/>
                <a:sym typeface="Calibri (MS)"/>
              </a:rPr>
              <a:t>Low Latency: Asynchron</a:t>
            </a:r>
            <a:r>
              <a:rPr lang="en-US" sz="3600">
                <a:solidFill>
                  <a:srgbClr val="FFFFFF"/>
                </a:solidFill>
                <a:latin typeface="Calibri (MS)"/>
                <a:ea typeface="Calibri (MS)"/>
                <a:cs typeface="Calibri (MS)"/>
                <a:sym typeface="Calibri (MS)"/>
              </a:rPr>
              <a:t>ous processing ensures the user experiences NO browsing lag.</a:t>
            </a:r>
          </a:p>
          <a:p>
            <a:pPr algn="l" marL="1554480" indent="-518160" lvl="2">
              <a:lnSpc>
                <a:spcPts val="6048"/>
              </a:lnSpc>
              <a:spcBef>
                <a:spcPct val="0"/>
              </a:spcBef>
              <a:buFont typeface="Arial"/>
              <a:buChar char="⚬"/>
            </a:pPr>
            <a:r>
              <a:rPr lang="en-US" sz="3600">
                <a:solidFill>
                  <a:srgbClr val="FFFFFF"/>
                </a:solidFill>
                <a:latin typeface="Calibri (MS)"/>
                <a:ea typeface="Calibri (MS)"/>
                <a:cs typeface="Calibri (MS)"/>
                <a:sym typeface="Calibri (MS)"/>
              </a:rPr>
              <a:t>Browser Compatible: Built on standard Manifest V3, compatible with Chrome, Edge, and Brave immediately.</a:t>
            </a:r>
          </a:p>
          <a:p>
            <a:pPr algn="l" marL="777240" indent="-388620" lvl="1">
              <a:lnSpc>
                <a:spcPts val="6048"/>
              </a:lnSpc>
              <a:spcBef>
                <a:spcPct val="0"/>
              </a:spcBef>
              <a:buFont typeface="Arial"/>
              <a:buChar char="•"/>
            </a:pPr>
            <a:r>
              <a:rPr lang="en-US" sz="3600">
                <a:solidFill>
                  <a:srgbClr val="FFFFFF"/>
                </a:solidFill>
                <a:latin typeface="Calibri (MS)"/>
                <a:ea typeface="Calibri (MS)"/>
                <a:cs typeface="Calibri (MS)"/>
                <a:sym typeface="Calibri (MS)"/>
              </a:rPr>
              <a:t>Scalability:</a:t>
            </a:r>
          </a:p>
          <a:p>
            <a:pPr algn="l" marL="1554480" indent="-518160" lvl="2">
              <a:lnSpc>
                <a:spcPts val="6048"/>
              </a:lnSpc>
              <a:spcBef>
                <a:spcPct val="0"/>
              </a:spcBef>
              <a:buFont typeface="Arial"/>
              <a:buChar char="⚬"/>
            </a:pPr>
            <a:r>
              <a:rPr lang="en-US" sz="3600">
                <a:solidFill>
                  <a:srgbClr val="FFFFFF"/>
                </a:solidFill>
                <a:latin typeface="Calibri (MS)"/>
                <a:ea typeface="Calibri (MS)"/>
                <a:cs typeface="Calibri (MS)"/>
                <a:sym typeface="Calibri (MS)"/>
              </a:rPr>
              <a:t>Go-Routines: The Golang backend is chosen specifically to handle thousands of concurrent requests with minimal CPU usage.</a:t>
            </a:r>
          </a:p>
          <a:p>
            <a:pPr algn="l" marL="1554480" indent="-518160" lvl="2">
              <a:lnSpc>
                <a:spcPts val="6048"/>
              </a:lnSpc>
              <a:spcBef>
                <a:spcPct val="0"/>
              </a:spcBef>
              <a:buFont typeface="Arial"/>
              <a:buChar char="⚬"/>
            </a:pPr>
            <a:r>
              <a:rPr lang="en-US" sz="3600">
                <a:solidFill>
                  <a:srgbClr val="FFFFFF"/>
                </a:solidFill>
                <a:latin typeface="Calibri (MS)"/>
                <a:ea typeface="Calibri (MS)"/>
                <a:cs typeface="Calibri (MS)"/>
                <a:sym typeface="Calibri (MS)"/>
              </a:rPr>
              <a:t>Distributed AI: By offloading initial checks to the client (User's browser), server costs are drastically reduced, allowing scaling to millions of users cheaply.</a:t>
            </a:r>
          </a:p>
          <a:p>
            <a:pPr algn="l">
              <a:lnSpc>
                <a:spcPts val="6048"/>
              </a:lnSpc>
              <a:spcBef>
                <a:spcPct val="0"/>
              </a:spcBef>
            </a:pPr>
          </a:p>
        </p:txBody>
      </p:sp>
      <p:sp>
        <p:nvSpPr>
          <p:cNvPr name="TextBox 4" id="4"/>
          <p:cNvSpPr txBox="true"/>
          <p:nvPr/>
        </p:nvSpPr>
        <p:spPr>
          <a:xfrm rot="0">
            <a:off x="1028700" y="945985"/>
            <a:ext cx="7749897" cy="1207770"/>
          </a:xfrm>
          <a:prstGeom prst="rect">
            <a:avLst/>
          </a:prstGeom>
        </p:spPr>
        <p:txBody>
          <a:bodyPr anchor="t" rtlCol="false" tIns="0" lIns="0" bIns="0" rIns="0">
            <a:spAutoFit/>
          </a:bodyPr>
          <a:lstStyle/>
          <a:p>
            <a:pPr algn="l">
              <a:lnSpc>
                <a:spcPts val="9239"/>
              </a:lnSpc>
            </a:pPr>
            <a:r>
              <a:rPr lang="en-US" sz="5499" u="sng">
                <a:solidFill>
                  <a:srgbClr val="FFFFFF"/>
                </a:solidFill>
                <a:latin typeface="Calibri (MS)"/>
                <a:ea typeface="Calibri (MS)"/>
                <a:cs typeface="Calibri (MS)"/>
                <a:sym typeface="Calibri (MS)"/>
              </a:rPr>
              <a:t>FEASIBILITY &amp; SCALABILITY: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C1C1C"/>
        </a:solidFill>
      </p:bgPr>
    </p:bg>
    <p:spTree>
      <p:nvGrpSpPr>
        <p:cNvPr id="1" name=""/>
        <p:cNvGrpSpPr/>
        <p:nvPr/>
      </p:nvGrpSpPr>
      <p:grpSpPr>
        <a:xfrm>
          <a:off x="0" y="0"/>
          <a:ext cx="0" cy="0"/>
          <a:chOff x="0" y="0"/>
          <a:chExt cx="0" cy="0"/>
        </a:xfrm>
      </p:grpSpPr>
      <p:sp>
        <p:nvSpPr>
          <p:cNvPr name="Freeform 2" id="2"/>
          <p:cNvSpPr/>
          <p:nvPr/>
        </p:nvSpPr>
        <p:spPr>
          <a:xfrm flipH="false" flipV="false" rot="0">
            <a:off x="4553417" y="1317460"/>
            <a:ext cx="8840437" cy="8840437"/>
          </a:xfrm>
          <a:custGeom>
            <a:avLst/>
            <a:gdLst/>
            <a:ahLst/>
            <a:cxnLst/>
            <a:rect r="r" b="b" t="t" l="l"/>
            <a:pathLst>
              <a:path h="8840437" w="8840437">
                <a:moveTo>
                  <a:pt x="0" y="0"/>
                </a:moveTo>
                <a:lnTo>
                  <a:pt x="8840438" y="0"/>
                </a:lnTo>
                <a:lnTo>
                  <a:pt x="8840438" y="8840437"/>
                </a:lnTo>
                <a:lnTo>
                  <a:pt x="0" y="8840437"/>
                </a:lnTo>
                <a:lnTo>
                  <a:pt x="0" y="0"/>
                </a:lnTo>
                <a:close/>
              </a:path>
            </a:pathLst>
          </a:custGeom>
          <a:blipFill>
            <a:blip r:embed="rId3">
              <a:alphaModFix amt="70000"/>
            </a:blip>
            <a:stretch>
              <a:fillRect l="0" t="0" r="0" b="0"/>
            </a:stretch>
          </a:blipFill>
        </p:spPr>
      </p:sp>
      <p:sp>
        <p:nvSpPr>
          <p:cNvPr name="TextBox 3" id="3"/>
          <p:cNvSpPr txBox="true"/>
          <p:nvPr/>
        </p:nvSpPr>
        <p:spPr>
          <a:xfrm rot="0">
            <a:off x="541476" y="2880633"/>
            <a:ext cx="15421368" cy="4834890"/>
          </a:xfrm>
          <a:prstGeom prst="rect">
            <a:avLst/>
          </a:prstGeom>
        </p:spPr>
        <p:txBody>
          <a:bodyPr anchor="t" rtlCol="false" tIns="0" lIns="0" bIns="0" rIns="0">
            <a:spAutoFit/>
          </a:bodyPr>
          <a:lstStyle/>
          <a:p>
            <a:pPr algn="l" marL="777240" indent="-388620" lvl="1">
              <a:lnSpc>
                <a:spcPts val="5400"/>
              </a:lnSpc>
              <a:buFont typeface="Arial"/>
              <a:buChar char="•"/>
            </a:pPr>
            <a:r>
              <a:rPr lang="en-US" sz="3600">
                <a:solidFill>
                  <a:srgbClr val="FFFFFF"/>
                </a:solidFill>
                <a:latin typeface="Calibri (MS)"/>
                <a:ea typeface="Calibri (MS)"/>
                <a:cs typeface="Calibri (MS)"/>
                <a:sym typeface="Calibri (MS)"/>
              </a:rPr>
              <a:t>S</a:t>
            </a:r>
            <a:r>
              <a:rPr lang="en-US" sz="3600">
                <a:solidFill>
                  <a:srgbClr val="FFFFFF"/>
                </a:solidFill>
                <a:latin typeface="Calibri (MS)"/>
                <a:ea typeface="Calibri (MS)"/>
                <a:cs typeface="Calibri (MS)"/>
                <a:sym typeface="Calibri (MS)"/>
              </a:rPr>
              <a:t>ummary: Phishing Sentinel bridges the critical gap between user error and technical security.</a:t>
            </a:r>
          </a:p>
          <a:p>
            <a:pPr algn="l" marL="777240" indent="-388620" lvl="1">
              <a:lnSpc>
                <a:spcPts val="5400"/>
              </a:lnSpc>
              <a:buFont typeface="Arial"/>
              <a:buChar char="•"/>
            </a:pPr>
            <a:r>
              <a:rPr lang="en-US" sz="3600">
                <a:solidFill>
                  <a:srgbClr val="FFFFFF"/>
                </a:solidFill>
                <a:latin typeface="Calibri (MS)"/>
                <a:ea typeface="Calibri (MS)"/>
                <a:cs typeface="Calibri (MS)"/>
                <a:sym typeface="Calibri (MS)"/>
              </a:rPr>
              <a:t>Impact: Protects financial assets by neutralizing the most common attack vector (Social Engineering/Spoofing).</a:t>
            </a:r>
          </a:p>
          <a:p>
            <a:pPr algn="l" marL="777240" indent="-388620" lvl="1">
              <a:lnSpc>
                <a:spcPts val="5400"/>
              </a:lnSpc>
              <a:buFont typeface="Arial"/>
              <a:buChar char="•"/>
            </a:pPr>
            <a:r>
              <a:rPr lang="en-US" sz="3600">
                <a:solidFill>
                  <a:srgbClr val="FFFFFF"/>
                </a:solidFill>
                <a:latin typeface="Calibri (MS)"/>
                <a:ea typeface="Calibri (MS)"/>
                <a:cs typeface="Calibri (MS)"/>
                <a:sym typeface="Calibri (MS)"/>
              </a:rPr>
              <a:t>Vision: To create a decentralized trust layer where users can transact online with mathematically verified confidence.</a:t>
            </a:r>
          </a:p>
          <a:p>
            <a:pPr algn="l">
              <a:lnSpc>
                <a:spcPts val="5400"/>
              </a:lnSpc>
            </a:pPr>
          </a:p>
        </p:txBody>
      </p:sp>
      <p:sp>
        <p:nvSpPr>
          <p:cNvPr name="TextBox 4" id="4"/>
          <p:cNvSpPr txBox="true"/>
          <p:nvPr/>
        </p:nvSpPr>
        <p:spPr>
          <a:xfrm rot="0">
            <a:off x="1028700" y="1130060"/>
            <a:ext cx="4202059" cy="1207770"/>
          </a:xfrm>
          <a:prstGeom prst="rect">
            <a:avLst/>
          </a:prstGeom>
        </p:spPr>
        <p:txBody>
          <a:bodyPr anchor="t" rtlCol="false" tIns="0" lIns="0" bIns="0" rIns="0">
            <a:spAutoFit/>
          </a:bodyPr>
          <a:lstStyle/>
          <a:p>
            <a:pPr algn="l">
              <a:lnSpc>
                <a:spcPts val="9239"/>
              </a:lnSpc>
            </a:pPr>
            <a:r>
              <a:rPr lang="en-US" b="true" sz="5499" i="true" u="sng">
                <a:solidFill>
                  <a:srgbClr val="FFFFFF"/>
                </a:solidFill>
                <a:latin typeface="Calibri (MS) Bold Italics"/>
                <a:ea typeface="Calibri (MS) Bold Italics"/>
                <a:cs typeface="Calibri (MS) Bold Italics"/>
                <a:sym typeface="Calibri (MS) Bold Italics"/>
              </a:rPr>
              <a:t>CONCLUSION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DAHBAxAo9GY</dc:identifier>
  <dcterms:modified xsi:type="dcterms:W3CDTF">2011-08-01T06:04:30Z</dcterms:modified>
  <cp:revision>1</cp:revision>
  <dc:title>Phishing Sentinel Template</dc:title>
</cp:coreProperties>
</file>